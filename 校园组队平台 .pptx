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heme/theme2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2" r:id="rId10"/>
    <p:sldId id="266" r:id="rId11"/>
    <p:sldId id="264" r:id="rId12"/>
    <p:sldId id="26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447" y="72"/>
      </p:cViewPr>
      <p:guideLst>
        <p:guide orient="horz" pos="2195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CE707-95F9-4BCE-B44D-6DBBBD733A5A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2D081-263C-4A9A-B297-0774BE971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88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lstStyle/>
          <a:p>
            <a:r>
              <a:rPr lang="zh-CN" altLang="zh-CN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移动计算方向专业实践</a:t>
            </a:r>
            <a:br>
              <a:rPr lang="en-US" altLang="zh-CN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校园组队平台</a:t>
            </a:r>
            <a:endParaRPr lang="zh-CN" altLang="zh-CN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lnSpcReduction="10000"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期末汇报</a:t>
            </a:r>
          </a:p>
          <a:p>
            <a:pPr algn="ctr"/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汇报人：郑嘉玮</a:t>
            </a:r>
          </a:p>
          <a:p>
            <a:pPr algn="ctr"/>
            <a:r>
              <a:rPr lang="zh-CN" altLang="en-US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组员：肖云志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0" y="52197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进展报告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1560" y="1491615"/>
            <a:ext cx="519557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目标：校园活动组队平台</a:t>
            </a:r>
          </a:p>
          <a:p>
            <a:endParaRPr lang="zh-CN" altLang="en-US" sz="2800" dirty="0"/>
          </a:p>
          <a:p>
            <a:r>
              <a:rPr lang="zh-CN" altLang="en-US" sz="2000" dirty="0"/>
              <a:t>项目定位：</a:t>
            </a:r>
          </a:p>
          <a:p>
            <a:pPr indent="457200"/>
            <a:r>
              <a:rPr lang="zh-CN" altLang="en-US" sz="2000" dirty="0"/>
              <a:t>面向学生的移动端 </a:t>
            </a:r>
            <a:r>
              <a:rPr lang="en-US" altLang="zh-CN" sz="2000" dirty="0"/>
              <a:t>Web </a:t>
            </a:r>
            <a:r>
              <a:rPr lang="zh-CN" altLang="en-US" sz="2000" dirty="0"/>
              <a:t>组队协作系统</a:t>
            </a:r>
            <a:endParaRPr lang="en-US" altLang="zh-CN" sz="2000" dirty="0"/>
          </a:p>
          <a:p>
            <a:pPr indent="457200"/>
            <a:endParaRPr lang="zh-CN" altLang="en-US" sz="2000" dirty="0"/>
          </a:p>
          <a:p>
            <a:r>
              <a:rPr lang="zh-CN" altLang="en-US" sz="2000" dirty="0"/>
              <a:t>技术栈：</a:t>
            </a:r>
            <a:r>
              <a:rPr lang="en-US" altLang="zh-CN" sz="2000" dirty="0"/>
              <a:t>Vue 3 + Vite + Spring Boot + MySQL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6002655" y="2359660"/>
            <a:ext cx="6096000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/>
            <a:r>
              <a:rPr lang="zh-CN" altLang="en-US" sz="2000" dirty="0">
                <a:sym typeface="+mn-ea"/>
              </a:rPr>
              <a:t>核心部分：</a:t>
            </a:r>
            <a:endParaRPr lang="zh-CN" altLang="en-US" sz="2000" dirty="0"/>
          </a:p>
          <a:p>
            <a:pPr indent="457200"/>
            <a:r>
              <a:rPr lang="zh-CN" altLang="en-US" sz="2000" dirty="0"/>
              <a:t>用户注册登录、</a:t>
            </a:r>
            <a:endParaRPr lang="en-US" altLang="zh-CN" sz="2000" dirty="0"/>
          </a:p>
          <a:p>
            <a:pPr indent="457200"/>
            <a:r>
              <a:rPr lang="zh-CN" altLang="en-US" sz="2000" dirty="0"/>
              <a:t>资料管理、</a:t>
            </a:r>
            <a:endParaRPr lang="en-US" altLang="zh-CN" sz="2000" dirty="0"/>
          </a:p>
          <a:p>
            <a:pPr indent="457200"/>
            <a:r>
              <a:rPr lang="zh-CN" altLang="en-US" sz="2000" dirty="0"/>
              <a:t>队伍发布、</a:t>
            </a:r>
            <a:endParaRPr lang="en-US" altLang="zh-CN" sz="2000" dirty="0"/>
          </a:p>
          <a:p>
            <a:pPr indent="457200"/>
            <a:r>
              <a:rPr lang="zh-CN" altLang="en-US" sz="2000" dirty="0"/>
              <a:t>队伍筛选、</a:t>
            </a:r>
            <a:endParaRPr lang="en-US" altLang="zh-CN" sz="2000" dirty="0"/>
          </a:p>
          <a:p>
            <a:pPr indent="457200"/>
            <a:r>
              <a:rPr lang="zh-CN" altLang="en-US" sz="2000" dirty="0"/>
              <a:t>申请</a:t>
            </a:r>
            <a:r>
              <a:rPr lang="en-US" altLang="zh-CN" sz="2000" dirty="0"/>
              <a:t>/</a:t>
            </a:r>
            <a:r>
              <a:rPr lang="zh-CN" altLang="en-US" sz="2000" dirty="0"/>
              <a:t>邀请、</a:t>
            </a:r>
            <a:endParaRPr lang="en-US" altLang="zh-CN" sz="2000" dirty="0"/>
          </a:p>
          <a:p>
            <a:pPr indent="457200"/>
            <a:r>
              <a:rPr lang="zh-CN" altLang="en-US" sz="2000" dirty="0"/>
              <a:t>私聊与队伍聊天</a:t>
            </a:r>
            <a:endParaRPr lang="zh-CN" altLang="en-US" sz="2000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848391" y="46889"/>
            <a:ext cx="406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用户登录与认证</a:t>
            </a:r>
            <a:endParaRPr lang="zh-CN" alt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2287" y="987290"/>
            <a:ext cx="472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8E843A-9BC0-8105-48C0-95502C526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3" y="2198985"/>
            <a:ext cx="2961979" cy="25835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27D3BA-EBA9-4667-7AB6-889BA667A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5450" y="2266905"/>
            <a:ext cx="2580550" cy="26793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A56910A-C1AD-E1D1-59F3-DDE1EB2D8F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624" y="655685"/>
            <a:ext cx="3907419" cy="554662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A20C0A-695E-9453-43BF-2E7785265A84}"/>
              </a:ext>
            </a:extLst>
          </p:cNvPr>
          <p:cNvSpPr txBox="1"/>
          <p:nvPr/>
        </p:nvSpPr>
        <p:spPr>
          <a:xfrm>
            <a:off x="7660742" y="6496275"/>
            <a:ext cx="20805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（图片由</a:t>
            </a:r>
            <a:r>
              <a:rPr lang="en-US" altLang="zh-CN" sz="800" dirty="0">
                <a:solidFill>
                  <a:schemeClr val="bg1">
                    <a:lumMod val="50000"/>
                  </a:schemeClr>
                </a:solidFill>
              </a:rPr>
              <a:t>AI</a:t>
            </a:r>
            <a:r>
              <a:rPr lang="zh-CN" altLang="en-US" sz="800" dirty="0">
                <a:solidFill>
                  <a:schemeClr val="bg1">
                    <a:lumMod val="50000"/>
                  </a:schemeClr>
                </a:solidFill>
              </a:rPr>
              <a:t>辅助生成）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726069" y="0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主要页面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0D8685-5AE0-75A1-F0F6-498BF3966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4775"/>
            <a:ext cx="3722589" cy="583758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8C71D99-35BB-D4FD-A57F-03518337D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623" y="584775"/>
            <a:ext cx="3762892" cy="59320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BD4BF7F-532E-2B54-F992-3A03E264E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3377" y="4837142"/>
            <a:ext cx="1613944" cy="81543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5F86EC4-CCFD-85F7-4A21-4F40590FF7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638" y="4359965"/>
            <a:ext cx="1471070" cy="163963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3936B8E-1D3A-1A93-C036-75E6FB4B837B}"/>
              </a:ext>
            </a:extLst>
          </p:cNvPr>
          <p:cNvCxnSpPr/>
          <p:nvPr/>
        </p:nvCxnSpPr>
        <p:spPr>
          <a:xfrm flipH="1">
            <a:off x="3722589" y="3193774"/>
            <a:ext cx="438594" cy="1530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9765686-6F0E-62FC-94AF-73CFDC255DD3}"/>
              </a:ext>
            </a:extLst>
          </p:cNvPr>
          <p:cNvCxnSpPr/>
          <p:nvPr/>
        </p:nvCxnSpPr>
        <p:spPr>
          <a:xfrm>
            <a:off x="6705600" y="3677478"/>
            <a:ext cx="357809" cy="6824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F5C72E9C-A6D7-0619-3B5C-621A731CE4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486" y="547591"/>
            <a:ext cx="3762892" cy="586240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FD3F4-1378-CE78-1253-7F3F5833F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DD77856-FCD6-5C14-FB5B-45BC3D632513}"/>
              </a:ext>
            </a:extLst>
          </p:cNvPr>
          <p:cNvSpPr txBox="1"/>
          <p:nvPr/>
        </p:nvSpPr>
        <p:spPr>
          <a:xfrm>
            <a:off x="3646556" y="24010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程序演示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60A9819-8244-2370-E203-F6AF7B0F3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67" y="987521"/>
            <a:ext cx="4667490" cy="20067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425F7C-036C-2796-B846-49D3BDFD9B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21" y="3166501"/>
            <a:ext cx="4502381" cy="30164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EA6461D-BCAE-0D99-6E90-057F60E4C3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5583" y="1016457"/>
            <a:ext cx="2700520" cy="3955533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8B09600-B113-17D8-5B6D-DB72BE7BE76E}"/>
              </a:ext>
            </a:extLst>
          </p:cNvPr>
          <p:cNvCxnSpPr>
            <a:cxnSpLocks/>
          </p:cNvCxnSpPr>
          <p:nvPr/>
        </p:nvCxnSpPr>
        <p:spPr>
          <a:xfrm flipV="1">
            <a:off x="4439478" y="2537791"/>
            <a:ext cx="947531" cy="23257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D1AA2A4-910C-1167-07A0-5C9FFF0B0F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8361" y="655214"/>
            <a:ext cx="2978391" cy="46780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A75E02D-217E-E219-0C4D-2B76E341B5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5806" y="3207587"/>
            <a:ext cx="2144031" cy="3025016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DBD009F-3F63-EB62-182F-A867EFE9C229}"/>
              </a:ext>
            </a:extLst>
          </p:cNvPr>
          <p:cNvCxnSpPr/>
          <p:nvPr/>
        </p:nvCxnSpPr>
        <p:spPr>
          <a:xfrm flipH="1">
            <a:off x="8441635" y="1530626"/>
            <a:ext cx="172278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5995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5063CB-D80C-92AA-3FF1-7DD316CF7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86D6EDB-65EA-8514-C837-CD33C50C59EE}"/>
              </a:ext>
            </a:extLst>
          </p:cNvPr>
          <p:cNvSpPr txBox="1"/>
          <p:nvPr/>
        </p:nvSpPr>
        <p:spPr>
          <a:xfrm>
            <a:off x="3951357" y="0"/>
            <a:ext cx="292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联调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EF1681-7FE7-5AAE-CDC7-588FB80DA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501" y="1134925"/>
            <a:ext cx="4483330" cy="15304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43F32D-4F63-C86F-3BA3-A59BA0137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942" y="1134925"/>
            <a:ext cx="6477333" cy="421026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14A1E54-00F8-4A68-D431-1D0FA936E8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955" y="3494111"/>
            <a:ext cx="4521432" cy="139707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A86687-E514-35FE-3E5A-31D8B0F13DF5}"/>
              </a:ext>
            </a:extLst>
          </p:cNvPr>
          <p:cNvSpPr txBox="1"/>
          <p:nvPr/>
        </p:nvSpPr>
        <p:spPr>
          <a:xfrm>
            <a:off x="940904" y="3094383"/>
            <a:ext cx="2411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请求头加</a:t>
            </a:r>
            <a:r>
              <a:rPr lang="en-US" altLang="zh-CN" dirty="0"/>
              <a:t>token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5101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567E5-001A-7FAF-15D2-13EF9A53E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21947A-4891-F8C8-D86B-BE33537F1963}"/>
              </a:ext>
            </a:extLst>
          </p:cNvPr>
          <p:cNvSpPr txBox="1"/>
          <p:nvPr/>
        </p:nvSpPr>
        <p:spPr>
          <a:xfrm>
            <a:off x="3951357" y="0"/>
            <a:ext cx="29265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系统架构</a:t>
            </a:r>
            <a:endParaRPr lang="en-US" altLang="zh-CN" sz="3200" dirty="0">
              <a:ln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zh-CN" altLang="en-US" sz="3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C4C2D79-4C23-C7E2-2CC5-36307C0C455E}"/>
              </a:ext>
            </a:extLst>
          </p:cNvPr>
          <p:cNvSpPr txBox="1"/>
          <p:nvPr/>
        </p:nvSpPr>
        <p:spPr>
          <a:xfrm>
            <a:off x="9036088" y="6016785"/>
            <a:ext cx="26012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</a:rPr>
              <a:t>由</a:t>
            </a:r>
            <a:r>
              <a:rPr lang="en-US" altLang="zh-CN" sz="800" dirty="0">
                <a:solidFill>
                  <a:schemeClr val="bg1">
                    <a:lumMod val="75000"/>
                  </a:schemeClr>
                </a:solidFill>
              </a:rPr>
              <a:t>ai</a:t>
            </a:r>
            <a:r>
              <a:rPr lang="zh-CN" altLang="en-US" sz="800" dirty="0">
                <a:solidFill>
                  <a:schemeClr val="bg1">
                    <a:lumMod val="75000"/>
                  </a:schemeClr>
                </a:solidFill>
              </a:rPr>
              <a:t>绘制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817CEF-3F8F-5C97-EA5E-ABF7A039E724}"/>
              </a:ext>
            </a:extLst>
          </p:cNvPr>
          <p:cNvSpPr txBox="1"/>
          <p:nvPr/>
        </p:nvSpPr>
        <p:spPr>
          <a:xfrm>
            <a:off x="778092" y="1027809"/>
            <a:ext cx="4183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前端</a:t>
            </a:r>
            <a:r>
              <a:rPr lang="zh-CN" altLang="zh-CN" dirty="0"/>
              <a:t>技术栈</a:t>
            </a:r>
            <a:r>
              <a:rPr lang="zh-CN" altLang="en-US" dirty="0"/>
              <a:t>：</a:t>
            </a:r>
            <a:r>
              <a:rPr lang="zh-CN" altLang="zh-CN" dirty="0"/>
              <a:t>Vue 3 + </a:t>
            </a:r>
            <a:r>
              <a:rPr lang="en-US" altLang="zh-CN" dirty="0"/>
              <a:t>Type</a:t>
            </a:r>
            <a:r>
              <a:rPr lang="zh-CN" altLang="zh-CN" dirty="0"/>
              <a:t>Script + Vit</a:t>
            </a:r>
            <a:r>
              <a:rPr lang="en-US" altLang="zh-CN" dirty="0"/>
              <a:t>e</a:t>
            </a:r>
          </a:p>
          <a:p>
            <a:endParaRPr lang="en-US" altLang="zh-CN" dirty="0"/>
          </a:p>
          <a:p>
            <a:r>
              <a:rPr lang="zh-CN" altLang="en-US" dirty="0"/>
              <a:t>全局状态使用 </a:t>
            </a:r>
            <a:r>
              <a:rPr lang="en-US" altLang="zh-CN" dirty="0" err="1"/>
              <a:t>Pinia</a:t>
            </a:r>
            <a:r>
              <a:rPr lang="en-US" altLang="zh-CN" dirty="0"/>
              <a:t>:</a:t>
            </a:r>
          </a:p>
          <a:p>
            <a:r>
              <a:rPr lang="zh-CN" altLang="en-US" dirty="0"/>
              <a:t>用户信息和登录态集中在 </a:t>
            </a:r>
            <a:r>
              <a:rPr lang="en-US" altLang="zh-CN" dirty="0" err="1"/>
              <a:t>user.ts</a:t>
            </a:r>
            <a:endParaRPr lang="en-US" altLang="zh-CN" dirty="0"/>
          </a:p>
          <a:p>
            <a:r>
              <a:rPr lang="zh-CN" altLang="en-US" dirty="0"/>
              <a:t>聊天相关状态在 </a:t>
            </a:r>
            <a:r>
              <a:rPr lang="en-US" altLang="zh-CN" dirty="0" err="1"/>
              <a:t>chat.ts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dirty="0"/>
              <a:t>通过 Vue Router 管理页面路由和登录拦截，Pinia 维护用户与聊天状态，Axios 统一封装接口与鉴权，页面按首页、发布、团队、消息、个人中心进行业务拆分。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3790C3E-5C6A-0F81-079C-9BAB77E673E9}"/>
              </a:ext>
            </a:extLst>
          </p:cNvPr>
          <p:cNvSpPr txBox="1"/>
          <p:nvPr/>
        </p:nvSpPr>
        <p:spPr>
          <a:xfrm>
            <a:off x="8640583" y="625771"/>
            <a:ext cx="1358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后端框架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6E82BDA-F863-FB87-0A6D-CF0A97093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778" y="942797"/>
            <a:ext cx="4498571" cy="49724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287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1D8DB-02C6-C548-37D6-8A1527F01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40FD3CE-86C0-4865-0885-A9C31ABB8AA9}"/>
              </a:ext>
            </a:extLst>
          </p:cNvPr>
          <p:cNvSpPr txBox="1"/>
          <p:nvPr/>
        </p:nvSpPr>
        <p:spPr>
          <a:xfrm>
            <a:off x="3951357" y="0"/>
            <a:ext cx="3277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n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鉴权和安全实践</a:t>
            </a:r>
            <a:endParaRPr lang="zh-CN" altLang="en-US" sz="3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E6FA20-6045-23D5-9174-F354AC5F4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2191" y="1136397"/>
            <a:ext cx="4633826" cy="95744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D711FC9-26F2-537B-F9C3-849992B5ECC6}"/>
              </a:ext>
            </a:extLst>
          </p:cNvPr>
          <p:cNvSpPr txBox="1"/>
          <p:nvPr/>
        </p:nvSpPr>
        <p:spPr>
          <a:xfrm>
            <a:off x="410818" y="1033669"/>
            <a:ext cx="50225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  <a:p>
            <a:r>
              <a:rPr lang="zh-CN" altLang="zh-CN" dirty="0">
                <a:latin typeface="Arial" panose="020B0604020202020204" pitchFamily="34" charset="0"/>
              </a:rPr>
              <a:t>密码安全：</a:t>
            </a:r>
            <a:r>
              <a:rPr lang="zh-CN" altLang="en-US" dirty="0"/>
              <a:t>注册时不保存明文密码</a:t>
            </a:r>
            <a:r>
              <a:rPr lang="en-US" altLang="zh-CN" dirty="0"/>
              <a:t> </a:t>
            </a:r>
            <a:r>
              <a:rPr lang="zh-CN" altLang="en-US" dirty="0"/>
              <a:t>使用 </a:t>
            </a:r>
            <a:r>
              <a:rPr lang="en-US" altLang="zh-CN" dirty="0" err="1"/>
              <a:t>BCrypt</a:t>
            </a:r>
            <a:r>
              <a:rPr lang="en-US" altLang="zh-CN" dirty="0"/>
              <a:t> </a:t>
            </a:r>
            <a:r>
              <a:rPr lang="zh-CN" altLang="en-US" dirty="0"/>
              <a:t>对密码加密后入库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latin typeface="Arial" panose="020B0604020202020204" pitchFamily="34" charset="0"/>
              </a:rPr>
              <a:t>认证安全：Token 使用 HMAC-SHA256 签名并设置过期时间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/>
              <a:t>前端请求时携带 </a:t>
            </a:r>
            <a:r>
              <a:rPr lang="en-US" altLang="zh-CN" dirty="0"/>
              <a:t>Authorization: Bearer token</a:t>
            </a:r>
          </a:p>
          <a:p>
            <a:r>
              <a:rPr lang="zh-CN" altLang="en-US" dirty="0"/>
              <a:t>后端拦截器统一解析 </a:t>
            </a:r>
            <a:r>
              <a:rPr lang="en-US" altLang="zh-CN" dirty="0"/>
              <a:t>token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83F94D-D341-E039-B6B7-46E807445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191" y="2287007"/>
            <a:ext cx="5715161" cy="31047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90916FC-BCB1-91DB-D433-08818ABA1F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73" y="5224665"/>
            <a:ext cx="5702593" cy="5397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47F425-B27A-BA47-0484-EA31525E54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818" y="4500092"/>
            <a:ext cx="5302523" cy="5143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5CCA993-F9AA-485D-0558-49938E6941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610" y="3260075"/>
            <a:ext cx="5432334" cy="29211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5B72A5E-AE4E-45BF-8C93-860260E1E7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906" y="3988199"/>
            <a:ext cx="5505733" cy="2667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940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70E76-F641-F063-0B09-7E77F1F0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BA651FB-694D-E340-BFCE-54B57FF10957}"/>
              </a:ext>
            </a:extLst>
          </p:cNvPr>
          <p:cNvSpPr txBox="1"/>
          <p:nvPr/>
        </p:nvSpPr>
        <p:spPr>
          <a:xfrm>
            <a:off x="3885096" y="0"/>
            <a:ext cx="292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CI/CD</a:t>
            </a:r>
            <a:endParaRPr lang="zh-CN" altLang="en-US" sz="3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DCE290-8E86-659D-969A-DDA84BE40C0A}"/>
              </a:ext>
            </a:extLst>
          </p:cNvPr>
          <p:cNvSpPr txBox="1"/>
          <p:nvPr/>
        </p:nvSpPr>
        <p:spPr>
          <a:xfrm>
            <a:off x="1172817" y="881269"/>
            <a:ext cx="3677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后端流程：</a:t>
            </a:r>
            <a:r>
              <a:rPr lang="en-US" altLang="zh-CN" dirty="0"/>
              <a:t>Checkout → JDK 17 → Maven Test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0AD5C11-68B6-788E-C35D-52A9738D6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8089" y="1560828"/>
            <a:ext cx="1799990" cy="186817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3D8570A-1A15-1E7D-49FF-D152FFBBD9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53" y="3702240"/>
            <a:ext cx="2750550" cy="141710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BFCD881-FA4A-6D53-1C1B-713119093AC2}"/>
              </a:ext>
            </a:extLst>
          </p:cNvPr>
          <p:cNvSpPr txBox="1"/>
          <p:nvPr/>
        </p:nvSpPr>
        <p:spPr>
          <a:xfrm>
            <a:off x="5055704" y="1354292"/>
            <a:ext cx="3836504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400" dirty="0">
                <a:latin typeface="+mn-ea"/>
              </a:rPr>
              <a:t>代码提交 </a:t>
            </a:r>
            <a:r>
              <a:rPr lang="en-US" altLang="zh-CN" sz="1400" dirty="0">
                <a:latin typeface="+mn-ea"/>
              </a:rPr>
              <a:t>/ Pull Request</a:t>
            </a:r>
          </a:p>
          <a:p>
            <a:pPr>
              <a:buNone/>
            </a:pPr>
            <a:r>
              <a:rPr lang="en-US" altLang="zh-CN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en-US" altLang="zh-CN" sz="1400" dirty="0">
                <a:latin typeface="+mn-ea"/>
              </a:rPr>
              <a:t>GitHub Actions </a:t>
            </a:r>
            <a:r>
              <a:rPr lang="zh-CN" altLang="en-US" sz="1400" dirty="0">
                <a:latin typeface="+mn-ea"/>
              </a:rPr>
              <a:t>触发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后端测试：</a:t>
            </a:r>
            <a:r>
              <a:rPr lang="en-US" altLang="zh-CN" sz="1400" dirty="0">
                <a:latin typeface="+mn-ea"/>
              </a:rPr>
              <a:t>Maven + JDK 17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前端检查：</a:t>
            </a:r>
            <a:r>
              <a:rPr lang="en-US" altLang="zh-CN" sz="1400" dirty="0" err="1">
                <a:latin typeface="+mn-ea"/>
              </a:rPr>
              <a:t>npm</a:t>
            </a:r>
            <a:r>
              <a:rPr lang="en-US" altLang="zh-CN" sz="1400" dirty="0">
                <a:latin typeface="+mn-ea"/>
              </a:rPr>
              <a:t> ci + </a:t>
            </a:r>
            <a:r>
              <a:rPr lang="en-US" altLang="zh-CN" sz="1400" dirty="0" err="1">
                <a:latin typeface="+mn-ea"/>
              </a:rPr>
              <a:t>ESLint</a:t>
            </a:r>
            <a:r>
              <a:rPr lang="en-US" altLang="zh-CN" sz="1400" dirty="0">
                <a:latin typeface="+mn-ea"/>
              </a:rPr>
              <a:t> + </a:t>
            </a:r>
            <a:r>
              <a:rPr lang="en-US" altLang="zh-CN" sz="1400" dirty="0" err="1">
                <a:latin typeface="+mn-ea"/>
              </a:rPr>
              <a:t>Vitest</a:t>
            </a:r>
            <a:endParaRPr lang="en-US" altLang="zh-CN" sz="1400" dirty="0">
              <a:latin typeface="+mn-ea"/>
            </a:endParaRPr>
          </a:p>
          <a:p>
            <a:pPr>
              <a:buNone/>
            </a:pPr>
            <a:r>
              <a:rPr lang="en-US" altLang="zh-CN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覆盖率上传：</a:t>
            </a:r>
            <a:r>
              <a:rPr lang="en-US" altLang="zh-CN" sz="1400" dirty="0" err="1">
                <a:latin typeface="+mn-ea"/>
              </a:rPr>
              <a:t>Codecov</a:t>
            </a:r>
            <a:endParaRPr lang="en-US" altLang="zh-CN" sz="1400" dirty="0">
              <a:latin typeface="+mn-ea"/>
            </a:endParaRPr>
          </a:p>
          <a:p>
            <a:pPr>
              <a:buNone/>
            </a:pPr>
            <a:r>
              <a:rPr lang="zh-CN" altLang="en-US" sz="1400" dirty="0">
                <a:latin typeface="+mn-ea"/>
              </a:rPr>
              <a:t>安全扫描：</a:t>
            </a:r>
            <a:r>
              <a:rPr lang="en-US" altLang="zh-CN" sz="1400" dirty="0" err="1">
                <a:latin typeface="+mn-ea"/>
              </a:rPr>
              <a:t>Gitleaks</a:t>
            </a:r>
            <a:endParaRPr lang="en-US" altLang="zh-CN" sz="1400" dirty="0">
              <a:latin typeface="+mn-ea"/>
            </a:endParaRPr>
          </a:p>
          <a:p>
            <a:pPr>
              <a:buNone/>
            </a:pPr>
            <a:r>
              <a:rPr lang="en-US" altLang="zh-CN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en-US" altLang="zh-CN" sz="1400" dirty="0">
                <a:latin typeface="+mn-ea"/>
              </a:rPr>
              <a:t>main </a:t>
            </a:r>
            <a:r>
              <a:rPr lang="zh-CN" altLang="en-US" sz="1400" dirty="0">
                <a:latin typeface="+mn-ea"/>
              </a:rPr>
              <a:t>分支合并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en-US" altLang="zh-CN" sz="1400" dirty="0">
                <a:latin typeface="+mn-ea"/>
              </a:rPr>
              <a:t>Docker </a:t>
            </a:r>
            <a:r>
              <a:rPr lang="en-US" altLang="zh-CN" sz="1400" dirty="0" err="1">
                <a:latin typeface="+mn-ea"/>
              </a:rPr>
              <a:t>Buildx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构建后端镜像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zh-CN" altLang="en-US" sz="1400" dirty="0">
                <a:latin typeface="+mn-ea"/>
              </a:rPr>
              <a:t>推送到 </a:t>
            </a:r>
            <a:r>
              <a:rPr lang="en-US" altLang="zh-CN" sz="1400" dirty="0">
                <a:latin typeface="+mn-ea"/>
              </a:rPr>
              <a:t>GHCR</a:t>
            </a:r>
            <a:r>
              <a:rPr lang="zh-CN" altLang="en-US" sz="1400" dirty="0">
                <a:latin typeface="+mn-ea"/>
              </a:rPr>
              <a:t>（</a:t>
            </a:r>
            <a:r>
              <a:rPr lang="en-US" altLang="zh-CN" sz="1400" dirty="0"/>
              <a:t>GitHub Container Registry</a:t>
            </a:r>
            <a:r>
              <a:rPr lang="zh-CN" altLang="en-US" sz="1400" dirty="0">
                <a:latin typeface="+mn-ea"/>
              </a:rPr>
              <a:t>）</a:t>
            </a:r>
            <a:endParaRPr lang="en-US" altLang="zh-CN" sz="1400" dirty="0">
              <a:latin typeface="+mn-ea"/>
            </a:endParaRPr>
          </a:p>
          <a:p>
            <a:pPr>
              <a:buNone/>
            </a:pPr>
            <a:r>
              <a:rPr lang="en-US" altLang="zh-CN" sz="1400" dirty="0">
                <a:latin typeface="+mn-ea"/>
              </a:rPr>
              <a:t>        ↓</a:t>
            </a:r>
          </a:p>
          <a:p>
            <a:pPr>
              <a:buNone/>
            </a:pPr>
            <a:r>
              <a:rPr lang="en-US" altLang="zh-CN" sz="1400" dirty="0" err="1">
                <a:latin typeface="+mn-ea"/>
              </a:rPr>
              <a:t>Trivy</a:t>
            </a:r>
            <a:r>
              <a:rPr lang="en-US" altLang="zh-CN" sz="1400" dirty="0">
                <a:latin typeface="+mn-ea"/>
              </a:rPr>
              <a:t> </a:t>
            </a:r>
            <a:r>
              <a:rPr lang="zh-CN" altLang="en-US" sz="1400" dirty="0">
                <a:latin typeface="+mn-ea"/>
              </a:rPr>
              <a:t>镜像漏洞扫描</a:t>
            </a:r>
            <a:endParaRPr lang="en-US" altLang="zh-CN" sz="1400" dirty="0"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         ↓</a:t>
            </a:r>
          </a:p>
          <a:p>
            <a:pPr>
              <a:buNone/>
            </a:pPr>
            <a:r>
              <a:rPr lang="en-US" altLang="zh-CN" sz="1400" dirty="0">
                <a:latin typeface="+mn-ea"/>
              </a:rPr>
              <a:t>Docker compose up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775D1C4-7D4E-4477-CB47-16257A111CA5}"/>
              </a:ext>
            </a:extLst>
          </p:cNvPr>
          <p:cNvCxnSpPr>
            <a:cxnSpLocks/>
          </p:cNvCxnSpPr>
          <p:nvPr/>
        </p:nvCxnSpPr>
        <p:spPr>
          <a:xfrm flipV="1">
            <a:off x="7500730" y="1966435"/>
            <a:ext cx="838118" cy="1909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5E74139-96A0-0148-7180-FFE162829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8848" y="1430750"/>
            <a:ext cx="3200564" cy="48262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913F1F2-C150-5A74-A608-F94938D251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033" y="2489073"/>
            <a:ext cx="2987372" cy="1065821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1C8BB721-FBDD-3A76-2640-8CB0EB062C5A}"/>
              </a:ext>
            </a:extLst>
          </p:cNvPr>
          <p:cNvCxnSpPr/>
          <p:nvPr/>
        </p:nvCxnSpPr>
        <p:spPr>
          <a:xfrm flipV="1">
            <a:off x="6427304" y="3591339"/>
            <a:ext cx="2136551" cy="848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455CAD0-70E4-4C6D-FBE4-EB3EBBD53B09}"/>
              </a:ext>
            </a:extLst>
          </p:cNvPr>
          <p:cNvCxnSpPr>
            <a:cxnSpLocks/>
          </p:cNvCxnSpPr>
          <p:nvPr/>
        </p:nvCxnSpPr>
        <p:spPr>
          <a:xfrm flipV="1">
            <a:off x="3283449" y="2325757"/>
            <a:ext cx="1659612" cy="3507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D4A2C9C3-6114-0221-A96D-8AA9E05381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281" y="5540053"/>
            <a:ext cx="1549480" cy="3873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0A371A-2008-981D-35FD-E64B52D740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8088" y="3619357"/>
            <a:ext cx="2830031" cy="1499991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F47875F-31B5-B1D5-4580-00B8AAFAD97C}"/>
              </a:ext>
            </a:extLst>
          </p:cNvPr>
          <p:cNvCxnSpPr>
            <a:cxnSpLocks/>
          </p:cNvCxnSpPr>
          <p:nvPr/>
        </p:nvCxnSpPr>
        <p:spPr>
          <a:xfrm flipV="1">
            <a:off x="3836504" y="2676532"/>
            <a:ext cx="1298713" cy="87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2913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44D67-7C58-6EE1-178D-A0F5A03C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A18EC0-733B-B78A-F3DD-A76841BC870F}"/>
              </a:ext>
            </a:extLst>
          </p:cNvPr>
          <p:cNvSpPr txBox="1"/>
          <p:nvPr/>
        </p:nvSpPr>
        <p:spPr>
          <a:xfrm>
            <a:off x="3885096" y="0"/>
            <a:ext cx="292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测试</a:t>
            </a:r>
            <a:endParaRPr lang="zh-CN" altLang="en-US" sz="3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6694D3-BD9F-FC72-0FD9-D04B9029B1C7}"/>
              </a:ext>
            </a:extLst>
          </p:cNvPr>
          <p:cNvSpPr txBox="1"/>
          <p:nvPr/>
        </p:nvSpPr>
        <p:spPr>
          <a:xfrm>
            <a:off x="195822" y="1815745"/>
            <a:ext cx="30264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+mj-ea"/>
                <a:ea typeface="+mj-ea"/>
              </a:rPr>
              <a:t>Controller </a:t>
            </a:r>
            <a:r>
              <a:rPr lang="zh-CN" altLang="en-US" dirty="0">
                <a:latin typeface="+mj-ea"/>
                <a:ea typeface="+mj-ea"/>
              </a:rPr>
              <a:t>层测试：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zh-CN" altLang="en-US" dirty="0"/>
              <a:t>使用 </a:t>
            </a:r>
            <a:r>
              <a:rPr lang="en-US" altLang="zh-CN" dirty="0" err="1"/>
              <a:t>MockMvc</a:t>
            </a:r>
            <a:r>
              <a:rPr lang="en-US" altLang="zh-CN" dirty="0"/>
              <a:t> </a:t>
            </a:r>
            <a:r>
              <a:rPr lang="zh-CN" altLang="en-US" dirty="0"/>
              <a:t>模拟 </a:t>
            </a:r>
            <a:r>
              <a:rPr lang="en-US" altLang="zh-CN" dirty="0"/>
              <a:t>HTTP </a:t>
            </a:r>
            <a:r>
              <a:rPr lang="zh-CN" altLang="en-US" dirty="0"/>
              <a:t>请求</a:t>
            </a:r>
            <a:endParaRPr lang="en-US" altLang="zh-CN" dirty="0">
              <a:latin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dirty="0">
                <a:latin typeface="+mj-ea"/>
                <a:ea typeface="+mj-ea"/>
              </a:rPr>
              <a:t>验证接口入参、响应结构、异常返回</a:t>
            </a: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zh-CN" altLang="en-US" dirty="0">
              <a:latin typeface="+mj-ea"/>
              <a:ea typeface="+mj-ea"/>
            </a:endParaRPr>
          </a:p>
          <a:p>
            <a:pPr>
              <a:buNone/>
            </a:pPr>
            <a:endParaRPr lang="zh-CN" altLang="en-US" dirty="0">
              <a:latin typeface="+mj-ea"/>
              <a:ea typeface="+mj-ea"/>
            </a:endParaRPr>
          </a:p>
          <a:p>
            <a:pPr>
              <a:buNone/>
            </a:pP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07D09D-C3EC-EA4B-C26B-55CEB67E543D}"/>
              </a:ext>
            </a:extLst>
          </p:cNvPr>
          <p:cNvSpPr txBox="1"/>
          <p:nvPr/>
        </p:nvSpPr>
        <p:spPr>
          <a:xfrm>
            <a:off x="339588" y="837338"/>
            <a:ext cx="6198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后端测试覆盖了接口层、业务层和鉴权模块，重点验证用户登录注册、团队管理、聊天、申请加入等核心功能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872343C-A139-7FE2-F363-BC1B29489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627" y="5027378"/>
            <a:ext cx="2483122" cy="62986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8774D6F-6A03-E13E-61A9-B71DEA1B24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416" y="2853648"/>
            <a:ext cx="2246156" cy="140653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D5E5239-9690-4B11-B64D-D6A200C89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88" y="2913082"/>
            <a:ext cx="2637571" cy="88834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2C89A37-C62B-31A9-FE36-B4EC69CE475B}"/>
              </a:ext>
            </a:extLst>
          </p:cNvPr>
          <p:cNvSpPr txBox="1"/>
          <p:nvPr/>
        </p:nvSpPr>
        <p:spPr>
          <a:xfrm>
            <a:off x="6811618" y="1769362"/>
            <a:ext cx="37586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+mj-ea"/>
                <a:ea typeface="+mj-ea"/>
              </a:rPr>
              <a:t>Security </a:t>
            </a:r>
            <a:r>
              <a:rPr lang="zh-CN" altLang="en-US" dirty="0">
                <a:latin typeface="+mj-ea"/>
                <a:ea typeface="+mj-ea"/>
              </a:rPr>
              <a:t>层测试：</a:t>
            </a:r>
          </a:p>
          <a:p>
            <a:pPr>
              <a:buNone/>
            </a:pPr>
            <a:r>
              <a:rPr lang="en-US" altLang="zh-CN" dirty="0" err="1">
                <a:latin typeface="+mj-ea"/>
                <a:ea typeface="+mj-ea"/>
              </a:rPr>
              <a:t>TokenServiceTest</a:t>
            </a: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dirty="0">
                <a:latin typeface="+mj-ea"/>
                <a:ea typeface="+mj-ea"/>
              </a:rPr>
              <a:t>验证 </a:t>
            </a:r>
            <a:r>
              <a:rPr lang="en-US" altLang="zh-CN" dirty="0">
                <a:latin typeface="+mj-ea"/>
                <a:ea typeface="+mj-ea"/>
              </a:rPr>
              <a:t>Token </a:t>
            </a:r>
            <a:r>
              <a:rPr lang="zh-CN" altLang="en-US" dirty="0">
                <a:latin typeface="+mj-ea"/>
                <a:ea typeface="+mj-ea"/>
              </a:rPr>
              <a:t>生成、解析、过期与非法 </a:t>
            </a:r>
            <a:r>
              <a:rPr lang="en-US" altLang="zh-CN" dirty="0">
                <a:latin typeface="+mj-ea"/>
                <a:ea typeface="+mj-ea"/>
              </a:rPr>
              <a:t>Token </a:t>
            </a:r>
            <a:r>
              <a:rPr lang="zh-CN" altLang="en-US" dirty="0">
                <a:latin typeface="+mj-ea"/>
                <a:ea typeface="+mj-ea"/>
              </a:rPr>
              <a:t>拦截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F00197-89DC-63C9-682D-FA6B03242E31}"/>
              </a:ext>
            </a:extLst>
          </p:cNvPr>
          <p:cNvSpPr txBox="1"/>
          <p:nvPr/>
        </p:nvSpPr>
        <p:spPr>
          <a:xfrm>
            <a:off x="3537519" y="1842447"/>
            <a:ext cx="27845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+mj-ea"/>
                <a:ea typeface="+mj-ea"/>
              </a:rPr>
              <a:t>Service </a:t>
            </a:r>
            <a:r>
              <a:rPr lang="zh-CN" altLang="en-US" dirty="0">
                <a:latin typeface="+mj-ea"/>
                <a:ea typeface="+mj-ea"/>
              </a:rPr>
              <a:t>层测试：</a:t>
            </a: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dirty="0"/>
              <a:t>使用 </a:t>
            </a:r>
            <a:r>
              <a:rPr lang="en-US" altLang="zh-CN" dirty="0"/>
              <a:t>Mockito Mock </a:t>
            </a:r>
            <a:r>
              <a:rPr lang="zh-CN" altLang="en-US" dirty="0"/>
              <a:t>掉 </a:t>
            </a:r>
            <a:r>
              <a:rPr lang="en-US" altLang="zh-CN" dirty="0"/>
              <a:t>Mapper </a:t>
            </a:r>
            <a:r>
              <a:rPr lang="zh-CN" altLang="en-US" dirty="0"/>
              <a:t>和通知服务</a:t>
            </a:r>
            <a:endParaRPr lang="zh-CN" altLang="en-US" dirty="0">
              <a:latin typeface="+mj-ea"/>
              <a:ea typeface="+mj-ea"/>
            </a:endParaRPr>
          </a:p>
          <a:p>
            <a:pPr>
              <a:buNone/>
            </a:pPr>
            <a:r>
              <a:rPr lang="en-US" altLang="zh-CN" dirty="0">
                <a:latin typeface="+mj-ea"/>
                <a:ea typeface="+mj-ea"/>
              </a:rPr>
              <a:t> </a:t>
            </a: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endParaRPr lang="en-US" altLang="zh-CN" dirty="0">
              <a:latin typeface="+mj-ea"/>
              <a:ea typeface="+mj-ea"/>
            </a:endParaRPr>
          </a:p>
          <a:p>
            <a:pPr>
              <a:buNone/>
            </a:pPr>
            <a:r>
              <a:rPr lang="zh-CN" altLang="en-US" dirty="0">
                <a:latin typeface="+mj-ea"/>
                <a:ea typeface="+mj-ea"/>
              </a:rPr>
              <a:t>验证核心业务逻辑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92EB2B1-5588-7ABE-5E7E-6E00E5CA65A8}"/>
              </a:ext>
            </a:extLst>
          </p:cNvPr>
          <p:cNvSpPr txBox="1"/>
          <p:nvPr/>
        </p:nvSpPr>
        <p:spPr>
          <a:xfrm>
            <a:off x="442292" y="5139732"/>
            <a:ext cx="31954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+mj-ea"/>
                <a:ea typeface="+mj-ea"/>
              </a:rPr>
              <a:t>JaCoCo </a:t>
            </a:r>
            <a:r>
              <a:rPr lang="zh-CN" altLang="en-US" dirty="0">
                <a:latin typeface="+mj-ea"/>
                <a:ea typeface="+mj-ea"/>
              </a:rPr>
              <a:t>插件生成覆盖率报告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/>
              <a:t>backend/</a:t>
            </a:r>
            <a:r>
              <a:rPr lang="en-US" altLang="zh-CN" dirty="0" err="1"/>
              <a:t>teamplatform</a:t>
            </a:r>
            <a:r>
              <a:rPr lang="en-US" altLang="zh-CN" dirty="0"/>
              <a:t>/target/site/</a:t>
            </a:r>
            <a:r>
              <a:rPr lang="en-US" altLang="zh-CN" dirty="0" err="1"/>
              <a:t>jacoco</a:t>
            </a:r>
            <a:r>
              <a:rPr lang="en-US" altLang="zh-CN" dirty="0"/>
              <a:t>/jacoco.xml</a:t>
            </a:r>
          </a:p>
          <a:p>
            <a:pPr>
              <a:buNone/>
            </a:pP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4EEAC97-D811-4AFB-4A9D-CF967D5CD323}"/>
              </a:ext>
            </a:extLst>
          </p:cNvPr>
          <p:cNvSpPr txBox="1"/>
          <p:nvPr/>
        </p:nvSpPr>
        <p:spPr>
          <a:xfrm>
            <a:off x="4310824" y="5139732"/>
            <a:ext cx="27845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>
                <a:latin typeface="+mj-ea"/>
                <a:ea typeface="+mj-ea"/>
              </a:rPr>
              <a:t>GitHub Actions </a:t>
            </a:r>
            <a:r>
              <a:rPr lang="zh-CN" altLang="en-US" dirty="0">
                <a:latin typeface="+mj-ea"/>
                <a:ea typeface="+mj-ea"/>
              </a:rPr>
              <a:t>上传 </a:t>
            </a:r>
            <a:r>
              <a:rPr lang="en-US" altLang="zh-CN" dirty="0">
                <a:latin typeface="+mj-ea"/>
                <a:ea typeface="+mj-ea"/>
              </a:rPr>
              <a:t>jacoco.xml </a:t>
            </a:r>
            <a:r>
              <a:rPr lang="zh-CN" altLang="en-US" dirty="0">
                <a:latin typeface="+mj-ea"/>
                <a:ea typeface="+mj-ea"/>
              </a:rPr>
              <a:t>到 </a:t>
            </a:r>
            <a:r>
              <a:rPr lang="en-US" altLang="zh-CN" dirty="0" err="1">
                <a:latin typeface="+mj-ea"/>
                <a:ea typeface="+mj-ea"/>
              </a:rPr>
              <a:t>Codecov</a:t>
            </a:r>
            <a:endParaRPr lang="en-US" altLang="zh-CN" dirty="0">
              <a:latin typeface="+mj-ea"/>
              <a:ea typeface="+mj-ea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27A90D5-2B12-3D8A-4D03-C761BF8A30ED}"/>
              </a:ext>
            </a:extLst>
          </p:cNvPr>
          <p:cNvCxnSpPr/>
          <p:nvPr/>
        </p:nvCxnSpPr>
        <p:spPr>
          <a:xfrm>
            <a:off x="3829878" y="5342310"/>
            <a:ext cx="4108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9EEB07A2-3EC4-0A57-88B8-D14FEA775E60}"/>
              </a:ext>
            </a:extLst>
          </p:cNvPr>
          <p:cNvCxnSpPr/>
          <p:nvPr/>
        </p:nvCxnSpPr>
        <p:spPr>
          <a:xfrm>
            <a:off x="7255565" y="5462897"/>
            <a:ext cx="4638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34935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BFBC3-09D8-82FB-EFC4-AAB969BF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AC5BE1C-79BC-A2E6-42A2-5DEFE65E7418}"/>
              </a:ext>
            </a:extLst>
          </p:cNvPr>
          <p:cNvSpPr txBox="1"/>
          <p:nvPr/>
        </p:nvSpPr>
        <p:spPr>
          <a:xfrm>
            <a:off x="3951357" y="0"/>
            <a:ext cx="292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docker</a:t>
            </a:r>
            <a:endParaRPr lang="zh-CN" altLang="en-US" sz="32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193321-8AE8-F963-63CE-CE874547881C}"/>
              </a:ext>
            </a:extLst>
          </p:cNvPr>
          <p:cNvSpPr txBox="1"/>
          <p:nvPr/>
        </p:nvSpPr>
        <p:spPr>
          <a:xfrm>
            <a:off x="588974" y="706128"/>
            <a:ext cx="37304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开发环境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cd</a:t>
            </a:r>
            <a:r>
              <a:rPr lang="zh-CN" altLang="en-US" dirty="0"/>
              <a:t>到根目</a:t>
            </a:r>
            <a:r>
              <a:rPr lang="en-US" altLang="zh-CN" dirty="0" err="1"/>
              <a:t>compose.yaml</a:t>
            </a:r>
            <a:endParaRPr lang="en-US" altLang="zh-CN" dirty="0"/>
          </a:p>
          <a:p>
            <a:r>
              <a:rPr lang="en-US" altLang="zh-CN" dirty="0"/>
              <a:t>docker compose up -d</a:t>
            </a:r>
          </a:p>
          <a:p>
            <a:r>
              <a:rPr lang="zh-CN" altLang="en-US" dirty="0"/>
              <a:t> 一键启动 </a:t>
            </a:r>
            <a:r>
              <a:rPr lang="en-US" altLang="zh-CN" dirty="0"/>
              <a:t>frontend</a:t>
            </a:r>
            <a:r>
              <a:rPr lang="zh-CN" altLang="en-US" dirty="0"/>
              <a:t>、</a:t>
            </a:r>
            <a:r>
              <a:rPr lang="en-US" altLang="zh-CN" dirty="0"/>
              <a:t>backend</a:t>
            </a:r>
            <a:r>
              <a:rPr lang="zh-CN" altLang="en-US" dirty="0"/>
              <a:t>、</a:t>
            </a:r>
            <a:r>
              <a:rPr lang="en-US" altLang="zh-CN" dirty="0"/>
              <a:t>MySQL</a:t>
            </a:r>
          </a:p>
          <a:p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874EE2-2FA5-3C6B-B663-8F8A8412A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64" y="2393119"/>
            <a:ext cx="3627427" cy="27781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5553232-309F-7C3F-FB1B-F46FF2635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9264" y="843228"/>
            <a:ext cx="3122093" cy="24986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EA2793D-2640-A788-F194-EE68C145D7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549" y="3674907"/>
            <a:ext cx="4654451" cy="22928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FE9E5E3-E589-1E98-98F1-083DDA2B9343}"/>
              </a:ext>
            </a:extLst>
          </p:cNvPr>
          <p:cNvSpPr txBox="1"/>
          <p:nvPr/>
        </p:nvSpPr>
        <p:spPr>
          <a:xfrm>
            <a:off x="2716696" y="2326253"/>
            <a:ext cx="20342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 dirty="0">
                <a:latin typeface="+mn-ea"/>
              </a:rPr>
              <a:t>backend </a:t>
            </a:r>
            <a:r>
              <a:rPr lang="zh-CN" altLang="en-US" sz="1200" dirty="0">
                <a:latin typeface="+mn-ea"/>
              </a:rPr>
              <a:t>容器：</a:t>
            </a:r>
          </a:p>
          <a:p>
            <a:pPr>
              <a:buNone/>
            </a:pPr>
            <a:r>
              <a:rPr lang="zh-CN" altLang="en-US" sz="1200" dirty="0">
                <a:latin typeface="+mn-ea"/>
              </a:rPr>
              <a:t> </a:t>
            </a:r>
            <a:r>
              <a:rPr lang="en-US" altLang="zh-CN" sz="1200" dirty="0">
                <a:latin typeface="+mn-ea"/>
              </a:rPr>
              <a:t>Maven + JDK 17</a:t>
            </a:r>
          </a:p>
          <a:p>
            <a:pPr>
              <a:buNone/>
            </a:pPr>
            <a:r>
              <a:rPr lang="en-US" altLang="zh-CN" sz="1200" dirty="0">
                <a:latin typeface="+mn-ea"/>
              </a:rPr>
              <a:t>Spring Boot</a:t>
            </a:r>
          </a:p>
          <a:p>
            <a:pPr>
              <a:buNone/>
            </a:pPr>
            <a:r>
              <a:rPr lang="zh-CN" altLang="en-US" sz="1200" dirty="0">
                <a:latin typeface="+mn-ea"/>
              </a:rPr>
              <a:t>端口：</a:t>
            </a:r>
            <a:r>
              <a:rPr lang="en-US" altLang="zh-CN" sz="1200" dirty="0">
                <a:latin typeface="+mn-ea"/>
              </a:rPr>
              <a:t>8765</a:t>
            </a:r>
            <a:r>
              <a:rPr lang="zh-CN" altLang="en-US" sz="1200" dirty="0">
                <a:latin typeface="+mn-ea"/>
              </a:rPr>
              <a:t>（根据冲突调整）</a:t>
            </a:r>
            <a:r>
              <a:rPr lang="en-US" altLang="zh-CN" sz="1200" dirty="0">
                <a:latin typeface="+mn-ea"/>
              </a:rPr>
              <a:t> -&gt; 8080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EC941E6-4FD3-F091-2B03-874EB821E58C}"/>
              </a:ext>
            </a:extLst>
          </p:cNvPr>
          <p:cNvSpPr txBox="1"/>
          <p:nvPr/>
        </p:nvSpPr>
        <p:spPr>
          <a:xfrm>
            <a:off x="7977809" y="5192404"/>
            <a:ext cx="1775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dirty="0">
                <a:latin typeface="+mj-ea"/>
                <a:ea typeface="+mj-ea"/>
              </a:rPr>
              <a:t>自动初始化 </a:t>
            </a:r>
            <a:r>
              <a:rPr lang="en-US" altLang="zh-CN" sz="1200" dirty="0" err="1">
                <a:latin typeface="+mj-ea"/>
                <a:ea typeface="+mj-ea"/>
              </a:rPr>
              <a:t>schema.sql</a:t>
            </a:r>
            <a:endParaRPr lang="en-US" altLang="zh-CN" sz="1200" dirty="0">
              <a:latin typeface="+mj-ea"/>
              <a:ea typeface="+mj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3C630D-5F1B-6B43-F0F0-E2529E5A50C7}"/>
              </a:ext>
            </a:extLst>
          </p:cNvPr>
          <p:cNvSpPr txBox="1"/>
          <p:nvPr/>
        </p:nvSpPr>
        <p:spPr>
          <a:xfrm>
            <a:off x="72139" y="5242296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600" dirty="0">
                <a:latin typeface="+mn-ea"/>
              </a:rPr>
              <a:t>开发环境通过 </a:t>
            </a:r>
            <a:r>
              <a:rPr lang="en-US" altLang="zh-CN" sz="1600" dirty="0">
                <a:latin typeface="+mn-ea"/>
              </a:rPr>
              <a:t>Docker</a:t>
            </a:r>
            <a:r>
              <a:rPr lang="zh-CN" altLang="en-US" sz="1600" dirty="0">
                <a:latin typeface="+mn-ea"/>
              </a:rPr>
              <a:t>启动</a:t>
            </a:r>
            <a:r>
              <a:rPr lang="en-US" altLang="zh-CN" sz="1600" dirty="0">
                <a:latin typeface="+mn-ea"/>
              </a:rPr>
              <a:t>frontend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backend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 err="1">
                <a:latin typeface="+mn-ea"/>
              </a:rPr>
              <a:t>mysql</a:t>
            </a:r>
            <a:r>
              <a:rPr lang="en-US" altLang="zh-CN" sz="1600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三个服务，实现一键启动、代码热更新、数据库自动初始化；生产环境则使用 </a:t>
            </a:r>
            <a:r>
              <a:rPr lang="en-US" altLang="zh-CN" sz="1600" dirty="0" err="1">
                <a:latin typeface="+mn-ea"/>
              </a:rPr>
              <a:t>compose.prod.yaml</a:t>
            </a:r>
            <a:r>
              <a:rPr lang="en-US" altLang="zh-CN" sz="1600" dirty="0">
                <a:latin typeface="+mn-ea"/>
              </a:rPr>
              <a:t> </a:t>
            </a:r>
            <a:r>
              <a:rPr lang="zh-CN" altLang="en-US" sz="1600" dirty="0">
                <a:latin typeface="+mn-ea"/>
              </a:rPr>
              <a:t>进行镜像化部署。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8449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23C93-4F5F-0677-7824-1C5E3A95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F0C6E67-3356-D523-9AB8-502A8EDDB417}"/>
              </a:ext>
            </a:extLst>
          </p:cNvPr>
          <p:cNvSpPr txBox="1"/>
          <p:nvPr/>
        </p:nvSpPr>
        <p:spPr>
          <a:xfrm>
            <a:off x="3951357" y="0"/>
            <a:ext cx="29265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监控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0495809-1BBA-BF3C-5097-D312E815CA52}"/>
              </a:ext>
            </a:extLst>
          </p:cNvPr>
          <p:cNvSpPr txBox="1"/>
          <p:nvPr/>
        </p:nvSpPr>
        <p:spPr>
          <a:xfrm>
            <a:off x="555843" y="1249467"/>
            <a:ext cx="37304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健康检查：</a:t>
            </a:r>
          </a:p>
          <a:p>
            <a:r>
              <a:rPr lang="zh-CN" altLang="en-US" dirty="0"/>
              <a:t>接口：</a:t>
            </a:r>
            <a:r>
              <a:rPr lang="en-US" altLang="zh-CN" dirty="0"/>
              <a:t>/</a:t>
            </a:r>
            <a:r>
              <a:rPr lang="en-US" altLang="zh-CN" dirty="0" err="1"/>
              <a:t>api</a:t>
            </a:r>
            <a:r>
              <a:rPr lang="en-US" altLang="zh-CN" dirty="0"/>
              <a:t>/health</a:t>
            </a:r>
          </a:p>
          <a:p>
            <a:r>
              <a:rPr lang="zh-CN" altLang="en-US" dirty="0"/>
              <a:t>返回 </a:t>
            </a:r>
            <a:r>
              <a:rPr lang="en-US" altLang="zh-CN" dirty="0"/>
              <a:t>status</a:t>
            </a:r>
            <a:r>
              <a:rPr lang="zh-CN" altLang="en-US" dirty="0"/>
              <a:t>、</a:t>
            </a:r>
            <a:r>
              <a:rPr lang="en-US" altLang="zh-CN" dirty="0"/>
              <a:t>timestamp</a:t>
            </a:r>
            <a:r>
              <a:rPr lang="zh-CN" altLang="en-US" dirty="0"/>
              <a:t>、</a:t>
            </a:r>
            <a:r>
              <a:rPr lang="en-US" altLang="zh-CN" dirty="0"/>
              <a:t>version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4BC893-9AFC-7B27-C30A-0053AE305E8B}"/>
              </a:ext>
            </a:extLst>
          </p:cNvPr>
          <p:cNvSpPr txBox="1"/>
          <p:nvPr/>
        </p:nvSpPr>
        <p:spPr>
          <a:xfrm>
            <a:off x="5764694" y="97246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zh-CN" altLang="en-US" dirty="0">
              <a:latin typeface="+mn-ea"/>
            </a:endParaRPr>
          </a:p>
          <a:p>
            <a:pPr>
              <a:buNone/>
            </a:pPr>
            <a:r>
              <a:rPr lang="zh-CN" altLang="en-US" dirty="0">
                <a:latin typeface="+mn-ea"/>
              </a:rPr>
              <a:t>指标：</a:t>
            </a:r>
          </a:p>
          <a:p>
            <a:pPr>
              <a:buNone/>
            </a:pPr>
            <a:r>
              <a:rPr lang="en-US" altLang="zh-CN" dirty="0">
                <a:latin typeface="+mn-ea"/>
              </a:rPr>
              <a:t>Spring Boot Actuator</a:t>
            </a:r>
          </a:p>
          <a:p>
            <a:pPr>
              <a:buNone/>
            </a:pPr>
            <a:r>
              <a:rPr lang="en-US" altLang="zh-CN" dirty="0">
                <a:latin typeface="+mn-ea"/>
              </a:rPr>
              <a:t>Prometheus </a:t>
            </a:r>
            <a:r>
              <a:rPr lang="zh-CN" altLang="en-US" dirty="0">
                <a:latin typeface="+mn-ea"/>
              </a:rPr>
              <a:t>格式指标</a:t>
            </a:r>
          </a:p>
          <a:p>
            <a:pPr>
              <a:buNone/>
            </a:pPr>
            <a:r>
              <a:rPr lang="zh-CN" altLang="en-US" dirty="0">
                <a:latin typeface="+mn-ea"/>
              </a:rPr>
              <a:t>接口：</a:t>
            </a:r>
            <a:r>
              <a:rPr lang="en-US" altLang="zh-CN" dirty="0">
                <a:latin typeface="+mn-ea"/>
              </a:rPr>
              <a:t>/actuator/</a:t>
            </a:r>
            <a:r>
              <a:rPr lang="en-US" altLang="zh-CN" dirty="0" err="1">
                <a:latin typeface="+mn-ea"/>
              </a:rPr>
              <a:t>prometheus</a:t>
            </a:r>
            <a:endParaRPr lang="en-US" altLang="zh-CN" dirty="0">
              <a:latin typeface="+mn-ea"/>
            </a:endParaRPr>
          </a:p>
          <a:p>
            <a:pPr>
              <a:buNone/>
            </a:pPr>
            <a:r>
              <a:rPr lang="zh-CN" altLang="en-US" dirty="0">
                <a:latin typeface="+mn-ea"/>
              </a:rPr>
              <a:t>统计 </a:t>
            </a:r>
            <a:r>
              <a:rPr lang="en-US" altLang="zh-CN" dirty="0">
                <a:latin typeface="+mn-ea"/>
              </a:rPr>
              <a:t>HTTP </a:t>
            </a:r>
            <a:r>
              <a:rPr lang="zh-CN" altLang="en-US" dirty="0">
                <a:latin typeface="+mn-ea"/>
              </a:rPr>
              <a:t>请求、响应时间、错误率</a:t>
            </a:r>
            <a:endParaRPr lang="en-US" altLang="zh-CN" dirty="0">
              <a:latin typeface="+mn-ea"/>
            </a:endParaRPr>
          </a:p>
          <a:p>
            <a:pPr>
              <a:buNone/>
            </a:pPr>
            <a:r>
              <a:rPr lang="zh-CN" altLang="en-US" dirty="0"/>
              <a:t>在</a:t>
            </a:r>
            <a:r>
              <a:rPr lang="en-US" altLang="zh-CN" dirty="0" err="1"/>
              <a:t>application.properties</a:t>
            </a:r>
            <a:r>
              <a:rPr lang="zh-CN" altLang="en-US" dirty="0"/>
              <a:t>配置：</a:t>
            </a:r>
            <a:endParaRPr lang="zh-CN" altLang="en-US" dirty="0">
              <a:latin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238E0C-9C57-018F-573C-97A5D7AC33EE}"/>
              </a:ext>
            </a:extLst>
          </p:cNvPr>
          <p:cNvSpPr txBox="1"/>
          <p:nvPr/>
        </p:nvSpPr>
        <p:spPr>
          <a:xfrm>
            <a:off x="555843" y="2653879"/>
            <a:ext cx="3452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+mj-ea"/>
                <a:ea typeface="+mj-ea"/>
              </a:rPr>
              <a:t>Docker </a:t>
            </a:r>
            <a:r>
              <a:rPr lang="zh-CN" altLang="en-US" dirty="0">
                <a:latin typeface="+mj-ea"/>
                <a:ea typeface="+mj-ea"/>
              </a:rPr>
              <a:t>在部署时定时访问该接口，如果连续失败，则认为后端服务异常。</a:t>
            </a:r>
            <a:br>
              <a:rPr lang="zh-CN" altLang="en-US" dirty="0">
                <a:latin typeface="+mj-ea"/>
                <a:ea typeface="+mj-ea"/>
              </a:rPr>
            </a:br>
            <a:r>
              <a:rPr lang="zh-CN" altLang="en-US" dirty="0">
                <a:latin typeface="+mj-ea"/>
                <a:ea typeface="+mj-ea"/>
              </a:rPr>
              <a:t>对应代码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99BE62-4205-75B6-8194-657A779BD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05" y="4228787"/>
            <a:ext cx="4896102" cy="143517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02A547-42B9-0324-C29F-5B564455C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1836" y="3238226"/>
            <a:ext cx="6121715" cy="6159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47337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580</Words>
  <Application>Microsoft Office PowerPoint</Application>
  <PresentationFormat>宽屏</PresentationFormat>
  <Paragraphs>109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等线</vt:lpstr>
      <vt:lpstr>Arial</vt:lpstr>
      <vt:lpstr>Wingdings</vt:lpstr>
      <vt:lpstr>WPS</vt:lpstr>
      <vt:lpstr>移动计算方向专业实践 校园组队平台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嘉玮 郑</cp:lastModifiedBy>
  <cp:revision>188</cp:revision>
  <dcterms:created xsi:type="dcterms:W3CDTF">2019-06-19T02:08:00Z</dcterms:created>
  <dcterms:modified xsi:type="dcterms:W3CDTF">2026-06-17T02:44:38Z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3D90B16F4E0C45109C2E1CB843C21AB2_11</vt:lpwstr>
  </property>
</Properties>
</file>